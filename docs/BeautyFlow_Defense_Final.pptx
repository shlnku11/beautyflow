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73e4cb75ca4189" /><Relationship Type="http://schemas.openxmlformats.org/officeDocument/2006/relationships/extended-properties" Target="/docProps/app.xml" Id="R650ff97de5f940e0" /><Relationship Type="http://schemas.openxmlformats.org/officeDocument/2006/relationships/officeDocument" Target="/ppt/presentation.xml" Id="R7d100e2e9d8043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8779525ec54407"/>
  </p:sldMasterIdLst>
  <p:notesMasterIdLst>
    <p:notesMasterId xmlns:r="http://schemas.openxmlformats.org/officeDocument/2006/relationships" r:id="R2b2ce8bbcb3549a7"/>
  </p:notesMasterIdLst>
  <p:sldIdLst>
    <p:sldId xmlns:r="http://schemas.openxmlformats.org/officeDocument/2006/relationships" id="256" r:id="Rd5b4f8c1bd3242cd"/>
    <p:sldId xmlns:r="http://schemas.openxmlformats.org/officeDocument/2006/relationships" id="257" r:id="R666984ea119d4f39"/>
    <p:sldId xmlns:r="http://schemas.openxmlformats.org/officeDocument/2006/relationships" id="258" r:id="R880e74f48aa24c4a"/>
    <p:sldId xmlns:r="http://schemas.openxmlformats.org/officeDocument/2006/relationships" id="259" r:id="Rf264003d89f14d7e"/>
    <p:sldId xmlns:r="http://schemas.openxmlformats.org/officeDocument/2006/relationships" id="260" r:id="Rc74f202093e940ff"/>
    <p:sldId xmlns:r="http://schemas.openxmlformats.org/officeDocument/2006/relationships" id="261" r:id="R94580a8e5fae490e"/>
    <p:sldId xmlns:r="http://schemas.openxmlformats.org/officeDocument/2006/relationships" id="262" r:id="R3cfa6f0204474765"/>
    <p:sldId xmlns:r="http://schemas.openxmlformats.org/officeDocument/2006/relationships" id="263" r:id="R79ff970c987749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b38b0ac78e47b8" /><Relationship Type="http://schemas.openxmlformats.org/officeDocument/2006/relationships/slideMaster" Target="/ppt/slideMasters/slideMaster1.xml" Id="Rd78779525ec54407" /><Relationship Type="http://schemas.openxmlformats.org/officeDocument/2006/relationships/notesMaster" Target="/ppt/notesMasters/notesMaster1.xml" Id="R2b2ce8bbcb3549a7" /><Relationship Type="http://schemas.openxmlformats.org/officeDocument/2006/relationships/presProps" Target="/ppt/presProps.xml" Id="R3a17155875034edd" /><Relationship Type="http://schemas.openxmlformats.org/officeDocument/2006/relationships/tableStyles" Target="/ppt/tableStyles.xml" Id="Ra0dad81e84014c1f" /><Relationship Type="http://schemas.openxmlformats.org/officeDocument/2006/relationships/slide" Target="/ppt/slides/slide1.xml" Id="Rd5b4f8c1bd3242cd" /><Relationship Type="http://schemas.openxmlformats.org/officeDocument/2006/relationships/slide" Target="/ppt/slides/slide2.xml" Id="R666984ea119d4f39" /><Relationship Type="http://schemas.openxmlformats.org/officeDocument/2006/relationships/slide" Target="/ppt/slides/slide3.xml" Id="R880e74f48aa24c4a" /><Relationship Type="http://schemas.openxmlformats.org/officeDocument/2006/relationships/slide" Target="/ppt/slides/slide4.xml" Id="Rf264003d89f14d7e" /><Relationship Type="http://schemas.openxmlformats.org/officeDocument/2006/relationships/slide" Target="/ppt/slides/slide5.xml" Id="Rc74f202093e940ff" /><Relationship Type="http://schemas.openxmlformats.org/officeDocument/2006/relationships/slide" Target="/ppt/slides/slide6.xml" Id="R94580a8e5fae490e" /><Relationship Type="http://schemas.openxmlformats.org/officeDocument/2006/relationships/slide" Target="/ppt/slides/slide7.xml" Id="R3cfa6f0204474765" /><Relationship Type="http://schemas.openxmlformats.org/officeDocument/2006/relationships/slide" Target="/ppt/slides/slide8.xml" Id="R79ff970c987749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0829bb7b440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c586fe3c734fbf" /><Relationship Type="http://schemas.openxmlformats.org/officeDocument/2006/relationships/notesMaster" Target="/ppt/notesMasters/notesMaster1.xml" Id="R651c0cdbc0894e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671ae4dfb9406b" /><Relationship Type="http://schemas.openxmlformats.org/officeDocument/2006/relationships/notesMaster" Target="/ppt/notesMasters/notesMaster1.xml" Id="R079d97a269634a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8cb2ead067456e" /><Relationship Type="http://schemas.openxmlformats.org/officeDocument/2006/relationships/notesMaster" Target="/ppt/notesMasters/notesMaster1.xml" Id="Rb0a3d5fb0d0b4b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b4d1bb27684c75" /><Relationship Type="http://schemas.openxmlformats.org/officeDocument/2006/relationships/notesMaster" Target="/ppt/notesMasters/notesMaster1.xml" Id="R687ea76b3b7d40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1397b9140343f9" /><Relationship Type="http://schemas.openxmlformats.org/officeDocument/2006/relationships/notesMaster" Target="/ppt/notesMasters/notesMaster1.xml" Id="Ra5873e89b7c44a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286950626d4b6b" /><Relationship Type="http://schemas.openxmlformats.org/officeDocument/2006/relationships/notesMaster" Target="/ppt/notesMasters/notesMaster1.xml" Id="R593953a317014f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e8b1a904ae4f4b" /><Relationship Type="http://schemas.openxmlformats.org/officeDocument/2006/relationships/notesMaster" Target="/ppt/notesMasters/notesMaster1.xml" Id="R6916caa29ba447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25b5cb518c419f" /><Relationship Type="http://schemas.openxmlformats.org/officeDocument/2006/relationships/notesMaster" Target="/ppt/notesMasters/notesMaster1.xml" Id="R4d8ed985fc0243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00:00–00:40 · Вступление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Коротко представить BeautyFlow как систему для повседневной работы салона. Сначала показать клиентский путь, затем рабочие экраны владельца и мастера.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00:40–01:30 · Пользовательские роли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Показать продукт через три роли. Смысл системы — связать публичный выбор клиента с расписанием и рабочими экранами салона.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01:30–02:35 · Онлайн-запись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Открыть реальную публичную форму и пройти выбор услуги, мастера и времени. На защите можно остановиться перед отправкой формы, чтобы не добавлять лишнюю запись в демо-данные. Платёжный шлюз в локальной демонстрации не настроен.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02:35–03:35 · Панель владельца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Открыть /app/dashboard. Обратить внимание на выбранный период, KPI и ближайшие записи. Значения демо-данных созданы для демонстрации интерфейса.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03:35–04:55 · Расписание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Открыть /app/calendar и переключить день, неделю и месяц. На узком экране сетка сохраняет режим, а недельные/месячные колонки прокручиваются внутри контейнера календаря; страница не расширяется целиком. Показать фильтр мастеров и карточки записей.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04:55–05:55 · Мобильная версия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Показать снимки шириной 390 px владельца и мастера. Пройти по мобильному дашборду и экрану «Мой день». Скриншоты подтверждают размеры реального локального интерфейса; это не отдельные макеты.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05:55–06:50 · Технический обзор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Объяснить роли слоёв на высоком уровне. Уточнить, что Console Email и auto-OTP — только локальный сценарий для двух demo-пользователей; production использует обычный OTP и настроенный почтовый провайдер.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06:50–07:30 · Завершение и вопросы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Подвести итог: основной пользовательский путь и CRM готовы к локальной демонстрации, typecheck и build проходят, клиент разделён на маршрутные чанки. Не выдавать Google OAuth за полностью настроенный вход: реальные credentials отсутствуют. Production deployment, SMTP, TLS и staging ещё требуют отдельной настройки и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59d1d7d0144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8423dfaae43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f7ddd21ec4b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5284ba1ed45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a208286c049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290dd95ce41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F61529-7F25-4B3A-AA79-9E0031F837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0B8B1A-EA94-4AD2-896E-F8E98A448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2770F8-E583-4A6E-9190-0E4AC32841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112D74-F7AB-4913-80EC-180C7C2A9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017935-BCA0-4FA7-8692-A1E2C489FC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B7F8B5-5331-4EEC-8D81-05568D757B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23F07E-E5E7-491A-BD70-7798EBCB55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EB8FF9-9272-4959-B0CD-AE437F7B24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B99056-CACB-4F63-87E4-D06E70F87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487791-4245-41B8-808F-B499913548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abded9c8da4dd9" /><Relationship Type="http://schemas.openxmlformats.org/officeDocument/2006/relationships/slideLayout" Target="/ppt/slideLayouts/slideLayout1.xml" Id="R0b8c5ced8f2c4550" /><Relationship Type="http://schemas.openxmlformats.org/officeDocument/2006/relationships/slideLayout" Target="/ppt/slideLayouts/slideLayout2.xml" Id="R2a8aa4dd11064753" /><Relationship Type="http://schemas.openxmlformats.org/officeDocument/2006/relationships/slideLayout" Target="/ppt/slideLayouts/slideLayout3.xml" Id="R7f57e2c057344042" /><Relationship Type="http://schemas.openxmlformats.org/officeDocument/2006/relationships/slideLayout" Target="/ppt/slideLayouts/slideLayout4.xml" Id="R4e6040a6e89b4d40" /><Relationship Type="http://schemas.openxmlformats.org/officeDocument/2006/relationships/slideLayout" Target="/ppt/slideLayouts/slideLayout5.xml" Id="R52bf020d6d8348e8" /><Relationship Type="http://schemas.openxmlformats.org/officeDocument/2006/relationships/slideLayout" Target="/ppt/slideLayouts/slideLayout6.xml" Id="Ra41cea0a33d644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8c5ced8f2c4550"/>
    <p:sldLayoutId xmlns:r="http://schemas.openxmlformats.org/officeDocument/2006/relationships" id="2147483650" r:id="R2a8aa4dd11064753"/>
    <p:sldLayoutId xmlns:r="http://schemas.openxmlformats.org/officeDocument/2006/relationships" id="2147483651" r:id="R7f57e2c057344042"/>
    <p:sldLayoutId xmlns:r="http://schemas.openxmlformats.org/officeDocument/2006/relationships" id="2147483652" r:id="R4e6040a6e89b4d40"/>
    <p:sldLayoutId xmlns:r="http://schemas.openxmlformats.org/officeDocument/2006/relationships" id="2147483653" r:id="R52bf020d6d8348e8"/>
    <p:sldLayoutId xmlns:r="http://schemas.openxmlformats.org/officeDocument/2006/relationships" id="2147483654" r:id="Ra41cea0a33d644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79d8823324654" /><Relationship Type="http://schemas.openxmlformats.org/officeDocument/2006/relationships/image" Target="/ppt/media/image.png" Id="R34ba1edc6d0f437c" /><Relationship Type="http://schemas.openxmlformats.org/officeDocument/2006/relationships/notesSlide" Target="/ppt/notesSlides/notesSlide1.xml" Id="Rb7199a2e5a5441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cf5c465ef4d56" /><Relationship Type="http://schemas.openxmlformats.org/officeDocument/2006/relationships/notesSlide" Target="/ppt/notesSlides/notesSlide2.xml" Id="R1befb61b30f942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bd497b2ca4717" /><Relationship Type="http://schemas.openxmlformats.org/officeDocument/2006/relationships/image" Target="/ppt/media/image2.png" Id="R1ccc92d4709b4fb4" /><Relationship Type="http://schemas.openxmlformats.org/officeDocument/2006/relationships/notesSlide" Target="/ppt/notesSlides/notesSlide3.xml" Id="R3b6ae07b92b349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07a0e90084fee" /><Relationship Type="http://schemas.openxmlformats.org/officeDocument/2006/relationships/image" Target="/ppt/media/image3.png" Id="R97d737c792a34183" /><Relationship Type="http://schemas.openxmlformats.org/officeDocument/2006/relationships/notesSlide" Target="/ppt/notesSlides/notesSlide4.xml" Id="Rb862a32d3bff4f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21a36c58c4b53" /><Relationship Type="http://schemas.openxmlformats.org/officeDocument/2006/relationships/image" Target="/ppt/media/image4.png" Id="R8da076f11fb64a49" /><Relationship Type="http://schemas.openxmlformats.org/officeDocument/2006/relationships/notesSlide" Target="/ppt/notesSlides/notesSlide5.xml" Id="Rb89cf3fbd53d42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3b379c00574d58" /><Relationship Type="http://schemas.openxmlformats.org/officeDocument/2006/relationships/image" Target="/ppt/media/image5.png" Id="R8836138b2aa546fe" /><Relationship Type="http://schemas.openxmlformats.org/officeDocument/2006/relationships/image" Target="/ppt/media/image6.png" Id="Raf883f315a8f4862" /><Relationship Type="http://schemas.openxmlformats.org/officeDocument/2006/relationships/notesSlide" Target="/ppt/notesSlides/notesSlide6.xml" Id="Rbfdd143e54cb41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7e117d9f5479d" /><Relationship Type="http://schemas.openxmlformats.org/officeDocument/2006/relationships/notesSlide" Target="/ppt/notesSlides/notesSlide7.xml" Id="R178870dd52104d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6edc6615246b3" /><Relationship Type="http://schemas.openxmlformats.org/officeDocument/2006/relationships/notesSlide" Target="/ppt/notesSlides/notesSlide8.xml" Id="Rd328f1d5c0ca4a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1C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65832-49AF-4113-8135-A9D4540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43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A1434-A05F-4888-BBA6-3B200C2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9575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D37FD-6253-41BA-ACD9-376F5E7D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C28C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1B67F-8C38-432F-B37C-7A432C79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3A42C-A4CA-4FBB-AFD7-7703BBEA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0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BEAUTYFLOW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1729C-FD61-44AB-BBBA-6F8AA37D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24003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382C3B"/>
          </a:solidFill>
          <a:ln xmlns:a="http://schemas.openxmlformats.org/drawingml/2006/main" w="9525">
            <a:solidFill>
              <a:srgbClr val="5B48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C452E-03C3-46A1-8AD6-89F13E64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E4D6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E4D6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4D6E4"/>
                </a:solidFill>
                <a:latin typeface="Arial"/>
                <a:ea typeface="Arial"/>
                <a:cs typeface="Arial"/>
              </a:rPr>
              <a:t>ПРОЕКТНАЯ ЗАЩИТА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1D1D6-AD5B-481C-9579-77EC6C9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857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Салон красоты —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едином ритме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DC786-2073-46B0-A47F-607C0077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442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7CB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D7CB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CBD7"/>
                </a:solidFill>
                <a:latin typeface="Arial"/>
                <a:ea typeface="Arial"/>
                <a:cs typeface="Arial"/>
              </a:rPr>
              <a:t>Онлайн-запись, расписание команды и ежедневная работа салона в одной системе.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3E3F6-7EEC-463D-8A37-69381E1B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7810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3A2E3D"/>
          </a:solidFill>
          <a:ln xmlns:a="http://schemas.openxmlformats.org/drawingml/2006/main" w="9525">
            <a:solidFill>
              <a:srgbClr val="5B48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687C7-3F77-4DAF-A66F-E0D5650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0E7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0E7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E7F0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07911-1B4F-4FFC-B673-73B9AFB3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81600"/>
            <a:ext cx="1600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3A2E3D"/>
          </a:solidFill>
          <a:ln xmlns:a="http://schemas.openxmlformats.org/drawingml/2006/main" w="9525">
            <a:solidFill>
              <a:srgbClr val="5B48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8F25C-ECC7-4142-9622-63C6A89B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911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0E7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0E7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E7F0"/>
                </a:solidFill>
                <a:latin typeface="Arial"/>
                <a:ea typeface="Arial"/>
                <a:cs typeface="Arial"/>
              </a:rPr>
              <a:t>ОНЛАЙН-ЗАПИСЬ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B1F2F-F72D-4AC5-B147-5B4BCF3B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81600"/>
            <a:ext cx="10668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3A2E3D"/>
          </a:solidFill>
          <a:ln xmlns:a="http://schemas.openxmlformats.org/drawingml/2006/main" w="9525">
            <a:solidFill>
              <a:srgbClr val="5B48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98610-2B63-413F-B7CF-FC0028E6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911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0E7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0E7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E7F0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17236-D99B-4BD7-9FED-B88978C4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38250"/>
            <a:ext cx="5734050" cy="44577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BFAF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0CBF8-6C50-42AF-BCC2-697ED0E6AC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a1edc6d0f437c"/>
          <a:srcRect xmlns:a="http://schemas.openxmlformats.org/drawingml/2006/main" l="0" t="0" r="0" b="40000"/>
          <a:stretch xmlns:a="http://schemas.openxmlformats.org/drawingml/2006/main"/>
        </p:blipFill>
        <p:spPr>
          <a:xfrm xmlns:a="http://schemas.openxmlformats.org/drawingml/2006/main">
            <a:off x="5962650" y="1390650"/>
            <a:ext cx="5429250" cy="4152900"/>
          </a:xfrm>
          <a:prstGeom xmlns:a="http://schemas.openxmlformats.org/drawingml/2006/main" prst="roundRect">
            <a:avLst>
              <a:gd name="adj" fmla="val 4128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09B32-4041-4312-B5DB-FEB2229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A99AA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A99AA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99AA9"/>
                </a:solidFill>
                <a:latin typeface="Arial"/>
                <a:ea typeface="Arial"/>
                <a:cs typeface="Arial"/>
              </a:rPr>
              <a:t>МОБИЛЬНО · НАГЛЯДНО · ДЛЯ ЕЖЕДНЕВНОЙ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78504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696F7-BAD6-4F87-A05A-9B281E4D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FC098-2A4A-451E-87E7-4FAB8EAB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Три роли — один понятный поток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FD7F3-39C1-48CB-8574-281C6B5A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Каждый участник видит нужные ему действия и данные.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DA234-3BC4-47FA-98BA-1FF56D31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9D085-8D8C-414D-8D7E-9DD5851E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BEAUTYFLOW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1C2E9-1190-4EB7-A11A-07F33652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93093-9B49-43AA-AA4F-F0F97207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39090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DA04B-03C2-4FD6-9D77-6C592CF6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191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F3E8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E2EE1-7CA0-4C2D-84CA-5ED682DE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2CFF4-C167-4921-9F86-0625761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ПУБЛИЧНАЯ ЗАПИСЬ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5CEC1-2183-473D-AD02-1ABF687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ECBD3-EAAD-4DDD-AD03-154EDBD8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Выбирает услугу, специалиста и подходящее время — без звонка в салон.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70705-4BF0-462A-B7E5-5A3A9455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47900"/>
            <a:ext cx="339090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EF33F-5001-4DFB-BDC1-4925340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4191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F3E8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65B1B-1745-4D32-8D82-EFA7FA8F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860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81B41-08ED-4AFF-8E23-123EEC2E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УПРАВЛЕНИЕ САЛОНОМ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8251E-36B5-4E5E-A542-BA67CA54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Владелец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31A70-0AB4-4384-B0D9-06B5DF7E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Следит за расписанием, клиентами, командой, услугами и оплатами.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6BB91-CDF7-4F1B-B113-BCB4F1C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339090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D3982-3663-43E6-9A2D-B1F73589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4191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F3E8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5573E-D232-4127-8067-A7AEFD0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378FC-924A-401D-9CC8-3F52C88E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РАБОЧИЙ ДЕНЬ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809F8-C5F3-4CA7-B05E-51CAD3A5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Мастер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FA308-E874-4D8F-98E0-0EF6AF8B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62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Видит собственные записи и актуальную загрузку в одном месте.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F3802-4085-4F19-AB86-9BFA64B5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8966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4A2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42CF38-EF20-4464-BB7D-1AC88ED6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5E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5E9F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E9F3"/>
                </a:solidFill>
                <a:latin typeface="Arial"/>
                <a:ea typeface="Arial"/>
                <a:cs typeface="Arial"/>
              </a:rPr>
              <a:t>КЛИЕНТ ВЫБИРАЕТ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0DFEBD-D499-43FC-9700-D30D713E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24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28C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024938-1967-487C-8149-D3B49D4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81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5E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5E9F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E9F3"/>
                </a:solidFill>
                <a:latin typeface="Arial"/>
                <a:ea typeface="Arial"/>
                <a:cs typeface="Arial"/>
              </a:rPr>
              <a:t>РАСПИСАНИЕ ПРОВЕРЯЕТ ДОСТУПНОСТЬ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F23B3-D6EB-4921-BA94-ABC89170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24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28C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02FA-A2B1-462A-8D8C-B33E6B9F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5E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5E9F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E9F3"/>
                </a:solidFill>
                <a:latin typeface="Arial"/>
                <a:ea typeface="Arial"/>
                <a:cs typeface="Arial"/>
              </a:rPr>
              <a:t>КОМАНДА РАБОТАЕТ ПО ПЛАНУ</a:t>
            </a:r>
          </a:p>
        </p:txBody>
      </p:sp>
    </p:spTree>
    <p:extLst>
      <p:ext uri="{BB962C8B-B14F-4D97-AF65-F5344CB8AC3E}">
        <p14:creationId xmlns:p14="http://schemas.microsoft.com/office/powerpoint/2010/main" val="1680585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A6FEE-7EEC-4207-AD74-75E103E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КЛИЕНТСКИЙ ПУТЬ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8287F-9645-454D-9487-8F66F555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Запись начинается с простого выбора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FAB9C-F7D1-451B-B17E-9E061046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Публичная форма салона доступна без аккаунта в BeautyFlow.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1B1EE-5540-4C6F-ABBE-F16A9CF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42F36-6708-4AFC-9CCB-93A1E49B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BEAUTYFLOW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94D6F-3416-49FC-8E48-10F0C66B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A575E-6EB5-4B4A-B5CF-0CD354D2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Клиент выбирает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72F4C-D22F-4DB1-8203-1A2839ED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381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F3E8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D7EB5-8854-42D6-B016-0C6686B2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5223D-0EC2-47F4-BFB2-791D046E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67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Услугу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63685-4E66-4BE5-8009-09E39A46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718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Видит название, длительность и стоимость.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8D82D-F750-4813-92C3-4338F7C2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381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F3E8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9A753-0DC4-44BD-AA8B-E9E0BD05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E0270-F5E3-4A88-9917-EB9DAE0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43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Специалиста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06B58-64A3-413D-88C9-945B35C8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48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Выбирает мастера или доступного специалиста.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AABCD-A35D-4411-BF4F-9C4367C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381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F3E8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960B8-CE63-4887-A373-9E0616C3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F4BA0-C246-4165-AE63-84727A6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9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E073C-126D-43F3-BAAF-E66820C9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44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Слоты зависят от расписания и занятости.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B3E29-5054-4A40-9BF0-13540139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2571750" cy="4476750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241C2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9D6EF-441D-4648-91F0-4BCE3756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2381250" cy="4286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F7FEA-544E-448A-A987-6F4D6D8B87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c92d4709b4fb4"/>
          <a:srcRect xmlns:a="http://schemas.openxmlformats.org/drawingml/2006/main" l="59" t="0" r="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5325" y="2000250"/>
            <a:ext cx="1943100" cy="4210050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68856-BEA1-4610-83A5-DE239A17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2781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22FF0-CDEC-47EA-88DC-05A0E2FB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ПУБЛИЧНАЯ СТРАНИЦА · /b/demo-salon</a:t>
            </a:r>
          </a:p>
        </p:txBody>
      </p:sp>
    </p:spTree>
    <p:extLst>
      <p:ext uri="{BB962C8B-B14F-4D97-AF65-F5344CB8AC3E}">
        <p14:creationId xmlns:p14="http://schemas.microsoft.com/office/powerpoint/2010/main" val="2046591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83883-FA87-4808-891B-557D487B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РАБОЧИЙ ДЕНЬ ВЛАДЕЛЬЦА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C0A31-F12C-4361-9D01-82F781DF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Обзор показывает состояние салона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5E561-C5BE-4BA2-B18F-9F21EC7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Ключевые цифры и ближайшие записи собраны на одном экране.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0B8B5-6506-4B82-B266-83B58C7C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FD0A0-2A4D-43BA-886F-473127C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BEAUTYFLOW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AACBD-D18F-45B8-B2DB-5B7923BD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7009E-D190-4C2B-8360-08CE4B32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7334250" cy="39052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0632F-8051-4814-A3F3-FCF92D5CB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737c792a34183"/>
          <a:srcRect xmlns:a="http://schemas.openxmlformats.org/drawingml/2006/main" l="0" t="0" r="0" b="43000"/>
          <a:stretch xmlns:a="http://schemas.openxmlformats.org/drawingml/2006/main"/>
        </p:blipFill>
        <p:spPr>
          <a:xfrm xmlns:a="http://schemas.openxmlformats.org/drawingml/2006/main">
            <a:off x="762000" y="2171700"/>
            <a:ext cx="7105650" cy="3676650"/>
          </a:xfrm>
          <a:prstGeom xmlns:a="http://schemas.openxmlformats.org/drawingml/2006/main" prst="roundRect">
            <a:avLst>
              <a:gd name="adj" fmla="val 46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9DCF7-A7E2-4C32-979E-6C06978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4381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AFC05-6609-43BB-82E1-F9FEFD5E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574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A8777-5751-496F-A1D4-07D70297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Сводка периода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25DDE-27A5-4A7C-9864-9F4CFA04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98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Выручка, количество записей, отмены и новые клиенты.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AC61F-7E7B-477D-8645-FB1106B1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4381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FBCCB-A19E-49AE-9B98-CF46DE01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194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7DAC1-5488-4406-8042-CA69285A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Динамика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61C9A-A476-407C-93A6-F20733F5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71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График помогает увидеть изменения по месяцам.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D554F-7A46-4B24-BE7E-40D89740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4381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76073-7136-40DA-A1A2-BA0C5F98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815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D9090-0A24-4797-A393-ADBEF91B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7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Следующие записи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6F5A8-9AEC-4137-810F-01BEAAB5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33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Переход к календарю — прямо из обзора.</a:t>
            </a:r>
          </a:p>
        </p:txBody>
      </p:sp>
    </p:spTree>
    <p:extLst>
      <p:ext uri="{BB962C8B-B14F-4D97-AF65-F5344CB8AC3E}">
        <p14:creationId xmlns:p14="http://schemas.microsoft.com/office/powerpoint/2010/main" val="1708092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0C02E-26B4-4870-8739-46604EB4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РАСПИСАНИЕ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81FD5-89C7-4DE9-85AA-4BCFBE0C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Календарь связывает время и команду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16721-6A47-4600-A58B-41975B43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Представления дня, недели и месяца помогают планировать разный горизонт.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D6B3B-5128-444A-8833-E05A897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54827-3BDA-4414-B243-5D34B5F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BEAUTYFLOW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60D56-A76F-4559-BD11-145906D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5D1D6-D7FF-47E0-ABC0-F9999DCA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7429500" cy="3829050"/>
          </a:xfrm>
          <a:prstGeom xmlns:a="http://schemas.openxmlformats.org/drawingml/2006/main" prst="roundRect">
            <a:avLst>
              <a:gd name="adj" fmla="val 54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77E8-B17F-4C1F-A293-416E00FEB9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076f11fb64a49"/>
          <a:srcRect xmlns:a="http://schemas.openxmlformats.org/drawingml/2006/main" l="0" t="0" r="0" b="54000"/>
          <a:stretch xmlns:a="http://schemas.openxmlformats.org/drawingml/2006/main"/>
        </p:blipFill>
        <p:spPr>
          <a:xfrm xmlns:a="http://schemas.openxmlformats.org/drawingml/2006/main">
            <a:off x="762000" y="2190750"/>
            <a:ext cx="7200900" cy="360045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96B4C-850D-4434-9EC1-AA754CDA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Планирование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8B9CE-9070-4FE3-93DB-0F392943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8382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BC52B-0703-4FC1-864E-2ED54B9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670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ДЕНЬ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6A46D-215B-46A6-864A-921DB0A5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Точная сетка для текущей смены.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9961A-66BB-40CF-8C4B-4767B75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8382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98B90-CA4F-4C7C-9F1D-16E8C3A9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НЕДЕЛЯ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ED1E0-8255-4821-88D5-8DA0F5D2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718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Загрузка команды и соседние слоты.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55564-5150-467D-B067-099CD141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8382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07FF6-FD9B-493D-A42C-FC409DAF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957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3C404-3E2C-49E4-8D05-3CA63902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862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Общий обзор и переход к дате.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41994-9A69-4B8B-8284-77E0AE45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24450"/>
            <a:ext cx="2952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DF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FBE0A-11A6-4EB1-BB75-6760EEEF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387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7F6E"/>
                </a:solidFill>
                <a:latin typeface="Arial"/>
                <a:ea typeface="Arial"/>
                <a:cs typeface="Arial"/>
              </a:rPr>
              <a:t>Мобильная сетка прокручивается внутри календаря — страница остаётся в ширине экрана.</a:t>
            </a:r>
          </a:p>
        </p:txBody>
      </p:sp>
    </p:spTree>
    <p:extLst>
      <p:ext uri="{BB962C8B-B14F-4D97-AF65-F5344CB8AC3E}">
        <p14:creationId xmlns:p14="http://schemas.microsoft.com/office/powerpoint/2010/main" val="1606282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0C42C-6930-4983-B8CB-72001AA5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МОБИЛЬНАЯ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90130-DA65-4BFD-8EA2-F971C82C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Нужные действия доступны на ходу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94071-CF17-4CA3-93C4-5D9F9787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Владельцу и мастеру не нужно ждать, пока откроется компьютер.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BFF74-8226-4A01-92D0-69A60A5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8974C-5157-40E0-88A3-BA954EE8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BEAUTYFLOW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B3BB0-F8A3-48F4-A8E9-5D7E8557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ED72C-827C-4221-A324-E49E95F6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209800" cy="42100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241C2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F2DFF-0466-4015-8FA9-FA8998C0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62150"/>
            <a:ext cx="2209800" cy="42100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241C2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B117-B8BE-46AC-91B1-3C5C3B978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6138b2aa546fe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2525" y="2038350"/>
            <a:ext cx="1876425" cy="4057650"/>
          </a:xfrm>
          <a:prstGeom xmlns:a="http://schemas.openxmlformats.org/drawingml/2006/main" prst="roundRect">
            <a:avLst>
              <a:gd name="adj" fmla="val 9137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847F1-03C8-4CF6-A2AF-E8FA3A0AD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83f315a8f4862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8575" y="2038350"/>
            <a:ext cx="1876425" cy="4057650"/>
          </a:xfrm>
          <a:prstGeom xmlns:a="http://schemas.openxmlformats.org/drawingml/2006/main" prst="roundRect">
            <a:avLst>
              <a:gd name="adj" fmla="val 913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7D10D-A328-4604-B56B-76F70456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53125"/>
            <a:ext cx="11811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F3E8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C1963-40F0-4A13-8DFA-72E58C8B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ВЛАДЕЛЕЦ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8A57B-2163-4475-ACAB-8F2D15A9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53125"/>
            <a:ext cx="11811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3E8F1"/>
          </a:solidFill>
          <a:ln xmlns:a="http://schemas.openxmlformats.org/drawingml/2006/main" w="9525">
            <a:solidFill>
              <a:srgbClr val="F3E8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BA47B-57DB-4A0C-986A-80B78DB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962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МАСТЕР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D927C-EED1-43BC-98B1-179E9C4E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Адаптивность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E33B2-A5D0-46CF-95AF-454254A1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Проверка Playwright при ширине 390 px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9B796-5FB5-45CB-A978-BF0E125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67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D2B92-5D34-456D-BE7A-DD80590F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D809A-25BD-401D-BF79-F8000033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CRM-разделы и рабочие сценарии доступны с телефона.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F3006-873C-4FDA-8A95-BCE7C97B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90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5F285-D9F7-4836-8745-1C0C9997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6DE23-6CD4-4F98-B750-774A7904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433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Календарь удерживает прокрутку внутри сетки.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BEEBE-1C6C-48F0-B960-146F5E26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14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F2B07-D177-4927-B529-315ACBDB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053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4A2E4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A2E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2DB7D-9670-4C9C-AD57-01AFD8F6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Панели и модальные окна остаются в видимой ширине.</a:t>
            </a:r>
          </a:p>
        </p:txBody>
      </p:sp>
    </p:spTree>
    <p:extLst>
      <p:ext uri="{BB962C8B-B14F-4D97-AF65-F5344CB8AC3E}">
        <p14:creationId xmlns:p14="http://schemas.microsoft.com/office/powerpoint/2010/main" val="1227927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E0B60E-31F1-4F7C-8721-0AA2F11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РЕАЛИЗАЦИЯ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022B0-97A8-4642-8DE3-2CFC93FD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Чёткие слои и понятный локальный вход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7E95E-94D6-467F-BD82-D4608717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Клиент, API и данные разделены; dev-режим ускоряет демонстрацию.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64E19-3685-4207-8908-A8862A96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C49A6-6FA5-4D7E-964B-A4AC8666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BEAUTYFLOW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3E25F-9E43-451E-87F9-A6E0656A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127A7-EF19-46AD-88CD-C5A44112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4574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3C2AD-E431-4EFF-8612-C99F50F5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F18FE-41EF-462C-976F-DE99CF5E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A8942-C0F5-405B-BD13-CE3488A7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Vite SPA · ленивые маршруты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2E3DB-A3CF-4496-AF1C-31A35654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24574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1A8F2-EAED-4B12-B5A6-7B98DD88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D5A5E-EDBB-4FE3-8C30-29155F35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194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Express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D66F9-2578-45C2-9840-C09A844D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TypeScript · авторизация и сервисы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E0681-599D-4A7B-B163-81729DED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4574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C7174-C72D-41D9-B632-4946BFF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53170-3A80-4389-A074-05F00891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MongoDB replica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5E114-8BE4-4304-8A01-77B0F459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Mongoose · транзакционные сценарии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52FB9-CD6C-4787-B1A0-AC930DBF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03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28C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5BEDF-5599-40E1-B07E-CC924A5F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28C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E9977-27C3-4A5E-813B-FD52992A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71700"/>
            <a:ext cx="27241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4A2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DE325-C372-4E6B-89CB-18367FE6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E8DD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E8DDE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DDE8"/>
                </a:solidFill>
                <a:latin typeface="Arial"/>
                <a:ea typeface="Arial"/>
                <a:cs typeface="Arial"/>
              </a:rPr>
              <a:t>ОБЩИЕ СХЕМЫ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EB37A-8BB5-4B4D-9B83-D5B3B983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Zod · DTO · роли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789D0-C236-493D-8946-7DF73BF8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DD1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DD1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DD1DD"/>
                </a:solidFill>
                <a:latin typeface="Arial"/>
                <a:ea typeface="Arial"/>
                <a:cs typeface="Arial"/>
              </a:rPr>
              <a:t>Клиент и сервер используют согласованные типы и правила доступа.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28F9A-47E4-4D05-94B8-6D0F9ED4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108966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F8E26-C948-4337-8CA4-49684231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5524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DF2EB"/>
          </a:solidFill>
          <a:ln xmlns:a="http://schemas.openxmlformats.org/drawingml/2006/main" w="9525">
            <a:solidFill>
              <a:srgbClr val="DDF2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EA1D4-6C66-4B93-86C5-30F98FD4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624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87F6E"/>
                </a:solidFill>
                <a:latin typeface="Arial"/>
                <a:ea typeface="Arial"/>
                <a:cs typeface="Arial"/>
              </a:rPr>
              <a:t>DEV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A4BE6B-49F8-4E46-8664-01CD1016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5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OTP для демонстрации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1FA2B7-CE89-4D46-A009-CBD9F075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017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ConsoleEmailProvider печатает письмо и код в терминал worker. Для seeded demo-аккаунтов development-клиент подтверждает вход автоматически; фиксированный код не применяется в production.</a:t>
            </a:r>
          </a:p>
        </p:txBody>
      </p:sp>
    </p:spTree>
    <p:extLst>
      <p:ext uri="{BB962C8B-B14F-4D97-AF65-F5344CB8AC3E}">
        <p14:creationId xmlns:p14="http://schemas.microsoft.com/office/powerpoint/2010/main" val="561859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CFE942-8E21-4942-A7E8-0ACFD827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83DEF-99C6-4C70-A225-9C5BE34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Что готово к показу — и что нужно для запуска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1BF23-2B50-4EC9-B4D2-56AB696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Демо можно воспроизвести локально; внешний production ещё не развёрнут.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109DA-C31C-4146-9BBD-4FE581C4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37332-A24D-451A-AD77-C5C0E689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BEAUTYFLOW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01963-B5F4-4FF7-949C-23580FA8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66E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ED07F-4F68-4A64-8825-BAF0E941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5143500" cy="3676650"/>
          </a:xfrm>
          <a:prstGeom xmlns:a="http://schemas.openxmlformats.org/drawingml/2006/main" prst="roundRect">
            <a:avLst>
              <a:gd name="adj" fmla="val 5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CB21B-9574-4EF9-ADEE-10A0EBCB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0002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DF2EB"/>
          </a:solidFill>
          <a:ln xmlns:a="http://schemas.openxmlformats.org/drawingml/2006/main" w="9525">
            <a:solidFill>
              <a:srgbClr val="DDF2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646B9-1AD1-47F5-9A1D-ABF4DA5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87F6E"/>
                </a:solidFill>
                <a:latin typeface="Arial"/>
                <a:ea typeface="Arial"/>
                <a:cs typeface="Arial"/>
              </a:rPr>
              <a:t>ГОТОВО В РЕПОЗИТОРИИ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DD971-CA7E-4F8B-9021-5264132F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78436-443F-49AF-AA84-2FDB8B8C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F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A3D1C-C5F3-4453-803C-D00431E1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E5380-CD48-49DA-B301-4B5820D4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908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typecheck проходит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75C1D-851A-4180-BB95-061BD273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CD5B4-41FD-4236-AC83-9DE62664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480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F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D58A5-B7CB-4710-945F-0F55E84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290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780F2-2EAD-4554-A989-F44F612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клиент и API собираются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0BE5A-E5B4-4FF5-8144-C4E31299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A2229-9BF3-4667-AB8A-23070942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F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CB423-AF67-4A9F-94AD-DF56620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Bundle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03D72-5BF4-46BA-BDBC-04418D9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67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entry JS уменьшен примерно с 1,31 MB до 541 KB raw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388CA-2D3D-4041-BD54-5C6401F5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52162-3E7A-47FB-8DA0-2C22F21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F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F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292534-3FB3-4CD6-BC7A-0F3E2DEF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05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923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232B"/>
                </a:solidFill>
                <a:latin typeface="Arial"/>
                <a:ea typeface="Arial"/>
                <a:cs typeface="Arial"/>
              </a:rPr>
              <a:t>Мобильный QA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1E6C1-FDBC-4C66-8EC4-18570A3A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05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66E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66E77"/>
                </a:solidFill>
                <a:latin typeface="Arial"/>
                <a:ea typeface="Arial"/>
                <a:cs typeface="Arial"/>
              </a:rPr>
              <a:t>снимки CRM сняты Playwright при 390 px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9D8A4-7173-4AFE-8E9C-D1753C9B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71700"/>
            <a:ext cx="5505450" cy="3676650"/>
          </a:xfrm>
          <a:prstGeom xmlns:a="http://schemas.openxmlformats.org/drawingml/2006/main" prst="roundRect">
            <a:avLst>
              <a:gd name="adj" fmla="val 5699"/>
            </a:avLst>
          </a:prstGeom>
          <a:solidFill xmlns:a="http://schemas.openxmlformats.org/drawingml/2006/main">
            <a:srgbClr val="241C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4B317B-0A1F-4651-8C3E-70309E7D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2362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3A2E3D"/>
          </a:solidFill>
          <a:ln xmlns:a="http://schemas.openxmlformats.org/drawingml/2006/main" w="9525">
            <a:solidFill>
              <a:srgbClr val="5B48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5FA7B-D38D-4230-97E1-E362F384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0E7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0E7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E7F0"/>
                </a:solidFill>
                <a:latin typeface="Arial"/>
                <a:ea typeface="Arial"/>
                <a:cs typeface="Arial"/>
              </a:rPr>
              <a:t>ПЕРЕД РЕАЛЬНЫМ ЗАПУСКОМ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B0320-3B93-4484-ACD6-788C76A0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AC9580-2180-499B-9288-495E260E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28C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8ED17-C91F-4BE1-AC60-95861C26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OAuth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1A51D6-0E27-445B-B2F6-4F269F3E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9B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9BEC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9BEC9"/>
                </a:solidFill>
                <a:latin typeface="Arial"/>
                <a:ea typeface="Arial"/>
                <a:cs typeface="Arial"/>
              </a:rPr>
              <a:t>Добавить credentials и разрешённые origin.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161641-032E-4299-B979-3CCFC06A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7278A9-F782-406D-9BBB-BAEA7E3B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957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28C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6144A6-4710-4A2E-AD5F-3DD7E2C2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6AC426-087A-449E-A4C4-32B6AEF5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9B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9BEC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9BEC9"/>
                </a:solidFill>
                <a:latin typeface="Arial"/>
                <a:ea typeface="Arial"/>
                <a:cs typeface="Arial"/>
              </a:rPr>
              <a:t>Настроить SMTP для production OTP.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406268-3F74-4141-BE63-9A1A9A85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D27CB1-72AC-4643-A40E-6A203672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958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C28CB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28C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6FFD99-148C-424B-85C8-A1F5A9D4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226B8E-6D17-48E7-B5DA-DF119B63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9B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9BEC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9BEC9"/>
                </a:solidFill>
                <a:latin typeface="Arial"/>
                <a:ea typeface="Arial"/>
                <a:cs typeface="Arial"/>
              </a:rPr>
              <a:t>Проверить staging, HTTPS, резервное копирование и восстановление.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AFD554-CDA9-4604-A7D1-33156F54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D4B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4B6B"/>
                </a:solidFill>
                <a:latin typeface="Arial"/>
                <a:ea typeface="Arial"/>
                <a:cs typeface="Arial"/>
              </a:rPr>
              <a:t>Локальное демо проверено · production deploy требует отдельной подготовки</a:t>
            </a:r>
          </a:p>
        </p:txBody>
      </p:sp>
    </p:spTree>
    <p:extLst>
      <p:ext uri="{BB962C8B-B14F-4D97-AF65-F5344CB8AC3E}">
        <p14:creationId xmlns:p14="http://schemas.microsoft.com/office/powerpoint/2010/main" val="1972020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2026-10-08T18:49:10.7760000Z</dcterms:created>
  <dcterms:modified xsi:type="dcterms:W3CDTF">2026-10-08T18:49:10.7770000Z</dcterms:modified>
</coreProperties>
</file>